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minutes. One idea per slide. Token Forge is the reference implementation. Games 2–13 are playable prototypes. Do not claim a measured learning gain. Live site: https://piaattufts.github.io/llmodyssey/ Code: https://github.com/piaattufts/llmodyssey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is practice, not the absence of ML theory. These four competencies are the ones the work-in-progress paper uses to frame the curriculum. Do not claim Odyssey has already closed the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fragmentation, then the pathway. Odyssey does not replace Playground or Spaces. It sequences decisions from a single mechanism to a constrained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Forge is the reference implementation. Games 2–13 are playable prototypes. Later tiers open after enough games meet the 70% instructional mastery benchmark. That benchmark is not a completion percentage and not professional expertise. Systems Forge opens after 4 Cognitive Core games. Foundry Arena opens after 3 Systems Forge games. Say: Foundations, then systems, then synthesis.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strategies: immediate feedback, scaffolded hints, progressive difficulty, worked examples, authentic context. Sources on the diagram: Black and Wiliam, Vygotsky, Sweller, Bloom. A hint costs one point. The design supports practice. It is not a measured learning 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Token Forge, one decision, then the reason. Reference implementation. The round uses the shipped signature def refund_total(items: list[str]) -&gt; int:. Do not say import numpy. SentencePiece is selected. The pieces are authored examples. Token count, efficiency, and the exercise cost are arithmetic on those pieces, not a live commercial tokenizer. Callouts, top to bottom: scenario pieces, count and cost, learner choice, immediate feedback. Round score is 10 of 10 with no hint penalty.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Orientation, decision, feedback, hint or continue, next round. The concept guide reopens without resetting the round or the score. Mastery check is the 70% instructional mastery benchmark, not expertise. Self-evaluation does not change the score. Transfer is explaining a new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Educators can assign from the guide. The table shows the game, tier, what students learn, status, minutes, Bloom level, and the 70% mastery column. Token Forge is Reference. The other twelve are Prototype. There is no button named Preview as Student. A game title opens the student view. No account and no paid model API are required.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documented protocol for a future study. Learning effectiveness is not established. Pre and post are optional local 10-item checks. Logs stay in the browser unless research mode is turned on. The study survey from the original prototype is not in this app. Interviews are planned and not shipped. If asked about faculty review: two reviewers gave feasibility and face-validity feedback during Winter 2026, while the author was at Durham College. That review is not proof of learning. Durham College is not the current affiliation.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the talk on this slide. Product evolution: the prototype supplied the curriculum. This release is React and TypeScript, local-first, on GitHub Pages, with no paid API. No archived Base44 screenshots are in the repository. Contact: pia.tripathi@tufts.edu. Remaining slides are backup.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asked about speed. Do not present these numbers as evidence that students learned.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Homepage states 13 games, 3 tiers, and no paid API. Gameplay shows the shipped Python signature and four authored rows.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Lab ranks authored chunks. Foundry is a design brief with more than one defensible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diagram as the closing slide, without the URL bar, if you need the footer sentence: Product evolution. The prototype supplied the curriculum. This release stands alone. No original Base44 screenshots were archived, so none are shown.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N=2. Do not generalize to student learning gains. Current affiliation is Tufts.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piaattufts.github.io/llmodyssey/" TargetMode="External"/><Relationship Id="rId4" Type="http://schemas.openxmlformats.org/officeDocument/2006/relationships/hyperlink" Target="https://github.com/piaattufts/llmodyssey"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B4F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234440"/>
            <a:ext cx="10972800" cy="640080"/>
          </a:xfrm>
          <a:prstGeom prst="rect">
            <a:avLst/>
          </a:prstGeom>
          <a:noFill/>
        </p:spPr>
        <p:txBody>
          <a:bodyPr wrap="square" lIns="0" rIns="0" tIns="0" bIns="0" anchor="t"/>
          <a:lstStyle/>
          <a:p>
            <a:pPr algn="l">
              <a:spcBef>
                <a:spcPts val="0"/>
              </a:spcBef>
              <a:spcAft>
                <a:spcPts val="0"/>
              </a:spcAft>
            </a:pPr>
            <a:r>
              <a:rPr sz="2800" b="1">
                <a:solidFill>
                  <a:srgbClr val="1B4F8A"/>
                </a:solidFill>
                <a:latin typeface="Calibri"/>
              </a:rPr>
              <a:t>LLM Odyssey</a:t>
            </a:r>
          </a:p>
        </p:txBody>
      </p:sp>
      <p:sp>
        <p:nvSpPr>
          <p:cNvPr id="4" name="TextBox 3"/>
          <p:cNvSpPr txBox="1"/>
          <p:nvPr/>
        </p:nvSpPr>
        <p:spPr>
          <a:xfrm>
            <a:off x="640080" y="1965960"/>
            <a:ext cx="10972800" cy="1645920"/>
          </a:xfrm>
          <a:prstGeom prst="rect">
            <a:avLst/>
          </a:prstGeom>
          <a:noFill/>
        </p:spPr>
        <p:txBody>
          <a:bodyPr wrap="square" lIns="0" rIns="0" tIns="0" bIns="0" anchor="t"/>
          <a:lstStyle/>
          <a:p>
            <a:pPr algn="l">
              <a:spcBef>
                <a:spcPts val="0"/>
              </a:spcBef>
              <a:spcAft>
                <a:spcPts val="0"/>
              </a:spcAft>
            </a:pPr>
            <a:r>
              <a:rPr sz="4000" b="1">
                <a:solidFill>
                  <a:srgbClr val="142033"/>
                </a:solidFill>
                <a:latin typeface="Calibri"/>
              </a:rPr>
              <a:t>A game-based platform for teaching</a:t>
            </a:r>
          </a:p>
          <a:p>
            <a:pPr algn="l">
              <a:spcBef>
                <a:spcPts val="0"/>
              </a:spcBef>
              <a:spcAft>
                <a:spcPts val="0"/>
              </a:spcAft>
            </a:pPr>
            <a:r>
              <a:rPr sz="4000" b="1">
                <a:solidFill>
                  <a:srgbClr val="142033"/>
                </a:solidFill>
                <a:latin typeface="Calibri"/>
              </a:rPr>
              <a:t>LLM engineering concepts</a:t>
            </a:r>
          </a:p>
        </p:txBody>
      </p:sp>
      <p:sp>
        <p:nvSpPr>
          <p:cNvPr id="5" name="TextBox 4"/>
          <p:cNvSpPr txBox="1"/>
          <p:nvPr/>
        </p:nvSpPr>
        <p:spPr>
          <a:xfrm>
            <a:off x="640080" y="3977639"/>
            <a:ext cx="10058400" cy="137160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Priyamvada Tripathi</a:t>
            </a:r>
          </a:p>
          <a:p>
            <a:pPr algn="l">
              <a:spcBef>
                <a:spcPts val="0"/>
              </a:spcBef>
              <a:spcAft>
                <a:spcPts val="0"/>
              </a:spcAft>
            </a:pPr>
            <a:r>
              <a:rPr sz="2200" b="0">
                <a:solidFill>
                  <a:srgbClr val="142033"/>
                </a:solidFill>
                <a:latin typeface="Calibri"/>
              </a:rPr>
              <a:t>Tufts Institute for Artificial Intelligence</a:t>
            </a:r>
          </a:p>
          <a:p>
            <a:pPr algn="l">
              <a:spcBef>
                <a:spcPts val="0"/>
              </a:spcBef>
              <a:spcAft>
                <a:spcPts val="0"/>
              </a:spcAft>
            </a:pPr>
            <a:r>
              <a:rPr sz="2200" b="0">
                <a:solidFill>
                  <a:srgbClr val="142033"/>
                </a:solidFill>
                <a:latin typeface="Calibri"/>
              </a:rPr>
              <a:t>Tufts University</a:t>
            </a:r>
          </a:p>
        </p:txBody>
      </p:sp>
      <p:sp>
        <p:nvSpPr>
          <p:cNvPr id="6" name="TextBox 5"/>
          <p:cNvSpPr txBox="1"/>
          <p:nvPr/>
        </p:nvSpPr>
        <p:spPr>
          <a:xfrm>
            <a:off x="640080" y="5623560"/>
            <a:ext cx="10058400" cy="822960"/>
          </a:xfrm>
          <a:prstGeom prst="rect">
            <a:avLst/>
          </a:prstGeom>
          <a:noFill/>
        </p:spPr>
        <p:txBody>
          <a:bodyPr wrap="square" lIns="0" rIns="0" tIns="0" bIns="0" anchor="t"/>
          <a:lstStyle/>
          <a:p>
            <a:pPr algn="l">
              <a:spcBef>
                <a:spcPts val="0"/>
              </a:spcBef>
              <a:spcAft>
                <a:spcPts val="0"/>
              </a:spcAft>
            </a:pPr>
            <a:r>
              <a:rPr sz="2000" b="0">
                <a:solidFill>
                  <a:srgbClr val="3E4C5E"/>
                </a:solidFill>
                <a:latin typeface="Calibri"/>
              </a:rPr>
              <a:t>Work in Progress, Innovative Practice</a:t>
            </a:r>
          </a:p>
          <a:p>
            <a:pPr algn="l">
              <a:spcBef>
                <a:spcPts val="0"/>
              </a:spcBef>
              <a:spcAft>
                <a:spcPts val="0"/>
              </a:spcAft>
            </a:pPr>
            <a:r>
              <a:rPr sz="2000" b="0">
                <a:solidFill>
                  <a:srgbClr val="3E4C5E"/>
                </a:solidFill>
                <a:latin typeface="Calibri"/>
              </a:rPr>
              <a:t>FIE 2026, Paphos, Cyprus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1554480"/>
          </a:xfrm>
          <a:prstGeom prst="rect">
            <a:avLst/>
          </a:prstGeom>
          <a:noFill/>
        </p:spPr>
        <p:txBody>
          <a:bodyPr wrap="square" lIns="0" rIns="0" tIns="0" bIns="0" anchor="t"/>
          <a:lstStyle/>
          <a:p>
            <a:pPr algn="l">
              <a:spcBef>
                <a:spcPts val="0"/>
              </a:spcBef>
              <a:spcAft>
                <a:spcPts val="0"/>
              </a:spcAft>
            </a:pPr>
            <a:r>
              <a:rPr sz="3600" b="1">
                <a:solidFill>
                  <a:srgbClr val="142033"/>
                </a:solidFill>
                <a:latin typeface="Calibri"/>
              </a:rPr>
              <a:t>CS graduates get little hands-on</a:t>
            </a:r>
          </a:p>
          <a:p>
            <a:pPr algn="l">
              <a:spcBef>
                <a:spcPts val="0"/>
              </a:spcBef>
              <a:spcAft>
                <a:spcPts val="0"/>
              </a:spcAft>
            </a:pPr>
            <a:r>
              <a:rPr sz="3600" b="1">
                <a:solidFill>
                  <a:srgbClr val="142033"/>
                </a:solidFill>
                <a:latin typeface="Calibri"/>
              </a:rPr>
              <a:t>LLM engineering practice.</a:t>
            </a:r>
          </a:p>
        </p:txBody>
      </p:sp>
      <p:sp>
        <p:nvSpPr>
          <p:cNvPr id="3" name="TextBox 2"/>
          <p:cNvSpPr txBox="1"/>
          <p:nvPr/>
        </p:nvSpPr>
        <p:spPr>
          <a:xfrm>
            <a:off x="548640" y="2057400"/>
            <a:ext cx="11064240" cy="640080"/>
          </a:xfrm>
          <a:prstGeom prst="rect">
            <a:avLst/>
          </a:prstGeom>
          <a:noFill/>
        </p:spPr>
        <p:txBody>
          <a:bodyPr wrap="square" lIns="0" rIns="0" tIns="0" bIns="0" anchor="t"/>
          <a:lstStyle/>
          <a:p>
            <a:pPr algn="l">
              <a:spcBef>
                <a:spcPts val="0"/>
              </a:spcBef>
              <a:spcAft>
                <a:spcPts val="0"/>
              </a:spcAft>
            </a:pPr>
            <a:r>
              <a:rPr sz="2400" b="0">
                <a:solidFill>
                  <a:srgbClr val="142033"/>
                </a:solidFill>
                <a:latin typeface="Calibri"/>
              </a:rPr>
              <a:t>Practitioners name four competencies that programs do not consistently develop.</a:t>
            </a:r>
          </a:p>
        </p:txBody>
      </p:sp>
      <p:sp>
        <p:nvSpPr>
          <p:cNvPr id="4" name="Rounded Rectangle 3"/>
          <p:cNvSpPr/>
          <p:nvPr/>
        </p:nvSpPr>
        <p:spPr>
          <a:xfrm>
            <a:off x="548640" y="297180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20040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Prompt engineering</a:t>
            </a:r>
          </a:p>
        </p:txBody>
      </p:sp>
      <p:sp>
        <p:nvSpPr>
          <p:cNvPr id="6" name="Rounded Rectangle 5"/>
          <p:cNvSpPr/>
          <p:nvPr/>
        </p:nvSpPr>
        <p:spPr>
          <a:xfrm>
            <a:off x="6217920" y="297180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320040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Retrieval-augmented generation</a:t>
            </a:r>
          </a:p>
        </p:txBody>
      </p:sp>
      <p:sp>
        <p:nvSpPr>
          <p:cNvPr id="8" name="Rounded Rectangle 7"/>
          <p:cNvSpPr/>
          <p:nvPr/>
        </p:nvSpPr>
        <p:spPr>
          <a:xfrm>
            <a:off x="548640" y="420624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43484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Fine-tuning</a:t>
            </a:r>
          </a:p>
        </p:txBody>
      </p:sp>
      <p:sp>
        <p:nvSpPr>
          <p:cNvPr id="10" name="Rounded Rectangle 9"/>
          <p:cNvSpPr/>
          <p:nvPr/>
        </p:nvSpPr>
        <p:spPr>
          <a:xfrm>
            <a:off x="6217920" y="4206240"/>
            <a:ext cx="5394960" cy="1051560"/>
          </a:xfrm>
          <a:prstGeom prst="roundRect">
            <a:avLst/>
          </a:prstGeom>
          <a:solidFill>
            <a:srgbClr val="E7F1FB"/>
          </a:solidFill>
          <a:ln w="25400">
            <a:solidFill>
              <a:srgbClr val="1B4F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434840"/>
            <a:ext cx="4846320" cy="64008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Production deployment</a:t>
            </a:r>
          </a:p>
        </p:txBody>
      </p:sp>
      <p:sp>
        <p:nvSpPr>
          <p:cNvPr id="12" name="TextBox 11"/>
          <p:cNvSpPr txBox="1"/>
          <p:nvPr/>
        </p:nvSpPr>
        <p:spPr>
          <a:xfrm>
            <a:off x="548640" y="6126480"/>
            <a:ext cx="11064240" cy="411480"/>
          </a:xfrm>
          <a:prstGeom prst="rect">
            <a:avLst/>
          </a:prstGeom>
          <a:noFill/>
        </p:spPr>
        <p:txBody>
          <a:bodyPr wrap="square" lIns="0" rIns="0" tIns="0" bIns="0" anchor="t"/>
          <a:lstStyle/>
          <a:p>
            <a:pPr algn="l">
              <a:spcBef>
                <a:spcPts val="0"/>
              </a:spcBef>
              <a:spcAft>
                <a:spcPts val="0"/>
              </a:spcAft>
            </a:pPr>
            <a:r>
              <a:rPr sz="1800" b="0">
                <a:solidFill>
                  <a:srgbClr val="3E4C5E"/>
                </a:solidFill>
                <a:latin typeface="Calibri"/>
              </a:rPr>
              <a:t>Bommasani et al., 2022.  Huyen, Designing Machine Learning Systems, 2022.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55680" cy="1417320"/>
          </a:xfrm>
          <a:prstGeom prst="rect">
            <a:avLst/>
          </a:prstGeom>
          <a:noFill/>
        </p:spPr>
        <p:txBody>
          <a:bodyPr wrap="square" lIns="0" rIns="0" tIns="0" bIns="0" anchor="t"/>
          <a:lstStyle/>
          <a:p>
            <a:pPr algn="l">
              <a:spcBef>
                <a:spcPts val="0"/>
              </a:spcBef>
              <a:spcAft>
                <a:spcPts val="0"/>
              </a:spcAft>
            </a:pPr>
            <a:r>
              <a:rPr sz="3600" b="1">
                <a:solidFill>
                  <a:srgbClr val="142033"/>
                </a:solidFill>
                <a:latin typeface="Calibri"/>
              </a:rPr>
              <a:t>Tools are fragmented.</a:t>
            </a:r>
          </a:p>
          <a:p>
            <a:pPr algn="l">
              <a:spcBef>
                <a:spcPts val="0"/>
              </a:spcBef>
              <a:spcAft>
                <a:spcPts val="0"/>
              </a:spcAft>
            </a:pPr>
            <a:r>
              <a:rPr sz="3600" b="1">
                <a:solidFill>
                  <a:srgbClr val="142033"/>
                </a:solidFill>
                <a:latin typeface="Calibri"/>
              </a:rPr>
              <a:t>Odyssey is one scaffolded pathway.</a:t>
            </a:r>
          </a:p>
        </p:txBody>
      </p:sp>
      <p:sp>
        <p:nvSpPr>
          <p:cNvPr id="3" name="Rounded Rectangle 2"/>
          <p:cNvSpPr/>
          <p:nvPr/>
        </p:nvSpPr>
        <p:spPr>
          <a:xfrm>
            <a:off x="502920" y="2011680"/>
            <a:ext cx="5349240" cy="4206240"/>
          </a:xfrm>
          <a:prstGeom prst="round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4754880" cy="548640"/>
          </a:xfrm>
          <a:prstGeom prst="rect">
            <a:avLst/>
          </a:prstGeom>
          <a:noFill/>
        </p:spPr>
        <p:txBody>
          <a:bodyPr wrap="square" lIns="0" rIns="0" tIns="0" bIns="0" anchor="t"/>
          <a:lstStyle/>
          <a:p>
            <a:pPr algn="l">
              <a:spcBef>
                <a:spcPts val="0"/>
              </a:spcBef>
              <a:spcAft>
                <a:spcPts val="0"/>
              </a:spcAft>
            </a:pPr>
            <a:r>
              <a:rPr sz="2800" b="1">
                <a:solidFill>
                  <a:srgbClr val="3E4C5E"/>
                </a:solidFill>
                <a:latin typeface="Calibri"/>
              </a:rPr>
              <a:t>What exists</a:t>
            </a:r>
          </a:p>
        </p:txBody>
      </p:sp>
      <p:sp>
        <p:nvSpPr>
          <p:cNvPr id="5" name="TextBox 4"/>
          <p:cNvSpPr txBox="1"/>
          <p:nvPr/>
        </p:nvSpPr>
        <p:spPr>
          <a:xfrm>
            <a:off x="822960" y="30175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OpenAI Playground</a:t>
            </a:r>
          </a:p>
        </p:txBody>
      </p:sp>
      <p:sp>
        <p:nvSpPr>
          <p:cNvPr id="6" name="TextBox 5"/>
          <p:cNvSpPr txBox="1"/>
          <p:nvPr/>
        </p:nvSpPr>
        <p:spPr>
          <a:xfrm>
            <a:off x="822960" y="39319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Hugging Face Spaces</a:t>
            </a:r>
          </a:p>
        </p:txBody>
      </p:sp>
      <p:sp>
        <p:nvSpPr>
          <p:cNvPr id="7" name="TextBox 6"/>
          <p:cNvSpPr txBox="1"/>
          <p:nvPr/>
        </p:nvSpPr>
        <p:spPr>
          <a:xfrm>
            <a:off x="822960" y="48463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Lectures and textbook examples</a:t>
            </a:r>
          </a:p>
        </p:txBody>
      </p:sp>
      <p:sp>
        <p:nvSpPr>
          <p:cNvPr id="8" name="Rounded Rectangle 7"/>
          <p:cNvSpPr/>
          <p:nvPr/>
        </p:nvSpPr>
        <p:spPr>
          <a:xfrm>
            <a:off x="6309360" y="2011680"/>
            <a:ext cx="5349240" cy="4206240"/>
          </a:xfrm>
          <a:prstGeom prst="roundRect">
            <a:avLst/>
          </a:prstGeom>
          <a:solidFill>
            <a:srgbClr val="E7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194560"/>
            <a:ext cx="4754880" cy="548640"/>
          </a:xfrm>
          <a:prstGeom prst="rect">
            <a:avLst/>
          </a:prstGeom>
          <a:noFill/>
        </p:spPr>
        <p:txBody>
          <a:bodyPr wrap="square" lIns="0" rIns="0" tIns="0" bIns="0" anchor="t"/>
          <a:lstStyle/>
          <a:p>
            <a:pPr algn="l">
              <a:spcBef>
                <a:spcPts val="0"/>
              </a:spcBef>
              <a:spcAft>
                <a:spcPts val="0"/>
              </a:spcAft>
            </a:pPr>
            <a:r>
              <a:rPr sz="2800" b="1">
                <a:solidFill>
                  <a:srgbClr val="1B4F8A"/>
                </a:solidFill>
                <a:latin typeface="Calibri"/>
              </a:rPr>
              <a:t>What Odyssey adds</a:t>
            </a:r>
          </a:p>
        </p:txBody>
      </p:sp>
      <p:sp>
        <p:nvSpPr>
          <p:cNvPr id="10" name="TextBox 9"/>
          <p:cNvSpPr txBox="1"/>
          <p:nvPr/>
        </p:nvSpPr>
        <p:spPr>
          <a:xfrm>
            <a:off x="6629400" y="30175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Progressive difficulty</a:t>
            </a:r>
          </a:p>
        </p:txBody>
      </p:sp>
      <p:sp>
        <p:nvSpPr>
          <p:cNvPr id="11" name="TextBox 10"/>
          <p:cNvSpPr txBox="1"/>
          <p:nvPr/>
        </p:nvSpPr>
        <p:spPr>
          <a:xfrm>
            <a:off x="6629400" y="39319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Pedagogical scaffolding</a:t>
            </a:r>
          </a:p>
        </p:txBody>
      </p:sp>
      <p:sp>
        <p:nvSpPr>
          <p:cNvPr id="12" name="TextBox 11"/>
          <p:cNvSpPr txBox="1"/>
          <p:nvPr/>
        </p:nvSpPr>
        <p:spPr>
          <a:xfrm>
            <a:off x="6629400" y="4846320"/>
            <a:ext cx="4754880" cy="731520"/>
          </a:xfrm>
          <a:prstGeom prst="rect">
            <a:avLst/>
          </a:prstGeom>
          <a:noFill/>
        </p:spPr>
        <p:txBody>
          <a:bodyPr wrap="square" lIns="0" rIns="0" tIns="0" bIns="0" anchor="t"/>
          <a:lstStyle/>
          <a:p>
            <a:pPr algn="l">
              <a:spcBef>
                <a:spcPts val="0"/>
              </a:spcBef>
              <a:spcAft>
                <a:spcPts val="0"/>
              </a:spcAft>
            </a:pPr>
            <a:r>
              <a:rPr sz="2400" b="1">
                <a:solidFill>
                  <a:srgbClr val="142033"/>
                </a:solidFill>
                <a:latin typeface="Calibri"/>
              </a:rPr>
              <a:t>A path from tokenization to a design brief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01_curriculum_tiers.png"/>
          <p:cNvPicPr>
            <a:picLocks noChangeAspect="1"/>
          </p:cNvPicPr>
          <p:nvPr/>
        </p:nvPicPr>
        <p:blipFill>
          <a:blip r:embed="rId2"/>
          <a:stretch>
            <a:fillRect/>
          </a:stretch>
        </p:blipFill>
        <p:spPr>
          <a:xfrm>
            <a:off x="770636" y="137160"/>
            <a:ext cx="10647680" cy="5989320"/>
          </a:xfrm>
          <a:prstGeom prst="rect">
            <a:avLst/>
          </a:prstGeom>
        </p:spPr>
      </p:pic>
      <p:sp>
        <p:nvSpPr>
          <p:cNvPr id="3" name="TextBox 2"/>
          <p:cNvSpPr txBox="1"/>
          <p:nvPr/>
        </p:nvSpPr>
        <p:spPr>
          <a:xfrm>
            <a:off x="365760" y="6263640"/>
            <a:ext cx="11430000" cy="411480"/>
          </a:xfrm>
          <a:prstGeom prst="rect">
            <a:avLst/>
          </a:prstGeom>
          <a:noFill/>
        </p:spPr>
        <p:txBody>
          <a:bodyPr wrap="square" lIns="0" rIns="0" tIns="0" bIns="0" anchor="ctr"/>
          <a:lstStyle/>
          <a:p>
            <a:pPr algn="ctr">
              <a:spcBef>
                <a:spcPts val="0"/>
              </a:spcBef>
              <a:spcAft>
                <a:spcPts val="0"/>
              </a:spcAft>
            </a:pPr>
            <a:r>
              <a:rPr sz="2000" b="1">
                <a:solidFill>
                  <a:srgbClr val="142033"/>
                </a:solidFill>
                <a:latin typeface="Calibri"/>
              </a:rPr>
              <a:t>Later tiers open at a 70% instructional mastery benchmark.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04_pedagogy_mapping.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pic>
        <p:nvPicPr>
          <p:cNvPr id="2" name="Picture 1" descr="05_token_forge_feedback_annotated.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03_game_learning_loop.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pic>
        <p:nvPicPr>
          <p:cNvPr id="2" name="Picture 1" descr="07_educator.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11_evaluation_flow.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12_platform_evolution.png"/>
          <p:cNvPicPr>
            <a:picLocks noChangeAspect="1"/>
          </p:cNvPicPr>
          <p:nvPr/>
        </p:nvPicPr>
        <p:blipFill>
          <a:blip r:embed="rId2"/>
          <a:stretch>
            <a:fillRect/>
          </a:stretch>
        </p:blipFill>
        <p:spPr>
          <a:xfrm>
            <a:off x="0" y="0"/>
            <a:ext cx="12191999" cy="6857999"/>
          </a:xfrm>
          <a:prstGeom prst="rect">
            <a:avLst/>
          </a:prstGeom>
        </p:spPr>
      </p:pic>
      <p:sp>
        <p:nvSpPr>
          <p:cNvPr id="3" name="Rectangle 2"/>
          <p:cNvSpPr/>
          <p:nvPr/>
        </p:nvSpPr>
        <p:spPr>
          <a:xfrm>
            <a:off x="0" y="6144768"/>
            <a:ext cx="12191999"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6236208"/>
            <a:ext cx="5760720" cy="502920"/>
          </a:xfrm>
          <a:prstGeom prst="rect">
            <a:avLst/>
          </a:prstGeom>
          <a:noFill/>
        </p:spPr>
        <p:txBody>
          <a:bodyPr wrap="square" lIns="0" rIns="0" tIns="0" bIns="0" anchor="ctr"/>
          <a:lstStyle/>
          <a:p>
            <a:pPr algn="ctr">
              <a:spcBef>
                <a:spcPts val="0"/>
              </a:spcBef>
              <a:spcAft>
                <a:spcPts val="0"/>
              </a:spcAft>
            </a:pPr>
            <a:r>
              <a:rPr sz="2000" b="1" u="sng">
                <a:solidFill>
                  <a:srgbClr val="1B4F8A"/>
                </a:solidFill>
                <a:latin typeface="Calibri"/>
                <a:hlinkClick r:id="rId3"/>
              </a:rPr>
              <a:t>https://piaattufts.github.io/llmodyssey/</a:t>
            </a:r>
          </a:p>
        </p:txBody>
      </p:sp>
      <p:sp>
        <p:nvSpPr>
          <p:cNvPr id="5" name="TextBox 4"/>
          <p:cNvSpPr txBox="1"/>
          <p:nvPr/>
        </p:nvSpPr>
        <p:spPr>
          <a:xfrm>
            <a:off x="6126480" y="6236208"/>
            <a:ext cx="5760720" cy="502920"/>
          </a:xfrm>
          <a:prstGeom prst="rect">
            <a:avLst/>
          </a:prstGeom>
          <a:noFill/>
        </p:spPr>
        <p:txBody>
          <a:bodyPr wrap="square" lIns="0" rIns="0" tIns="0" bIns="0" anchor="ctr"/>
          <a:lstStyle/>
          <a:p>
            <a:pPr algn="ctr">
              <a:spcBef>
                <a:spcPts val="0"/>
              </a:spcBef>
              <a:spcAft>
                <a:spcPts val="0"/>
              </a:spcAft>
            </a:pPr>
            <a:r>
              <a:rPr sz="2000" b="1" u="sng">
                <a:solidFill>
                  <a:srgbClr val="1B4F8A"/>
                </a:solidFill>
                <a:latin typeface="Calibri"/>
                <a:hlinkClick r:id="rId4"/>
              </a:rPr>
              <a:t>https://github.com/piaattufts/llmodyssey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11247120" cy="640080"/>
          </a:xfrm>
          <a:prstGeom prst="rect">
            <a:avLst/>
          </a:prstGeom>
          <a:noFill/>
        </p:spPr>
        <p:txBody>
          <a:bodyPr wrap="square" lIns="0" rIns="0" tIns="0" bIns="0" anchor="t"/>
          <a:lstStyle/>
          <a:p>
            <a:pPr algn="l">
              <a:spcBef>
                <a:spcPts val="0"/>
              </a:spcBef>
              <a:spcAft>
                <a:spcPts val="0"/>
              </a:spcAft>
            </a:pPr>
            <a:r>
              <a:rPr sz="3200" b="1">
                <a:solidFill>
                  <a:srgbClr val="142033"/>
                </a:solidFill>
                <a:latin typeface="Calibri"/>
              </a:rPr>
              <a:t>Backup · Reported deployment targets</a:t>
            </a:r>
          </a:p>
        </p:txBody>
      </p:sp>
      <p:sp>
        <p:nvSpPr>
          <p:cNvPr id="3" name="TextBox 2"/>
          <p:cNvSpPr txBox="1"/>
          <p:nvPr/>
        </p:nvSpPr>
        <p:spPr>
          <a:xfrm>
            <a:off x="41148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&lt; 16 ms</a:t>
            </a:r>
          </a:p>
        </p:txBody>
      </p:sp>
      <p:sp>
        <p:nvSpPr>
          <p:cNvPr id="4" name="TextBox 3"/>
          <p:cNvSpPr txBox="1"/>
          <p:nvPr/>
        </p:nvSpPr>
        <p:spPr>
          <a:xfrm>
            <a:off x="41148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interaction response</a:t>
            </a:r>
          </a:p>
        </p:txBody>
      </p:sp>
      <p:sp>
        <p:nvSpPr>
          <p:cNvPr id="5" name="TextBox 4"/>
          <p:cNvSpPr txBox="1"/>
          <p:nvPr/>
        </p:nvSpPr>
        <p:spPr>
          <a:xfrm>
            <a:off x="333756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&lt; 100 ms</a:t>
            </a:r>
          </a:p>
        </p:txBody>
      </p:sp>
      <p:sp>
        <p:nvSpPr>
          <p:cNvPr id="6" name="TextBox 5"/>
          <p:cNvSpPr txBox="1"/>
          <p:nvPr/>
        </p:nvSpPr>
        <p:spPr>
          <a:xfrm>
            <a:off x="333756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page load</a:t>
            </a:r>
          </a:p>
        </p:txBody>
      </p:sp>
      <p:sp>
        <p:nvSpPr>
          <p:cNvPr id="7" name="TextBox 6"/>
          <p:cNvSpPr txBox="1"/>
          <p:nvPr/>
        </p:nvSpPr>
        <p:spPr>
          <a:xfrm>
            <a:off x="626364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60 fps</a:t>
            </a:r>
          </a:p>
        </p:txBody>
      </p:sp>
      <p:sp>
        <p:nvSpPr>
          <p:cNvPr id="8" name="TextBox 7"/>
          <p:cNvSpPr txBox="1"/>
          <p:nvPr/>
        </p:nvSpPr>
        <p:spPr>
          <a:xfrm>
            <a:off x="626364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animations</a:t>
            </a:r>
          </a:p>
        </p:txBody>
      </p:sp>
      <p:sp>
        <p:nvSpPr>
          <p:cNvPr id="9" name="TextBox 8"/>
          <p:cNvSpPr txBox="1"/>
          <p:nvPr/>
        </p:nvSpPr>
        <p:spPr>
          <a:xfrm>
            <a:off x="9189720" y="1554480"/>
            <a:ext cx="2743200" cy="1005840"/>
          </a:xfrm>
          <a:prstGeom prst="rect">
            <a:avLst/>
          </a:prstGeom>
          <a:noFill/>
        </p:spPr>
        <p:txBody>
          <a:bodyPr wrap="square" lIns="0" rIns="0" tIns="0" bIns="0" anchor="ctr"/>
          <a:lstStyle/>
          <a:p>
            <a:pPr algn="ctr">
              <a:spcBef>
                <a:spcPts val="0"/>
              </a:spcBef>
              <a:spcAft>
                <a:spcPts val="0"/>
              </a:spcAft>
            </a:pPr>
            <a:r>
              <a:rPr sz="4000" b="1">
                <a:solidFill>
                  <a:srgbClr val="1B4F8A"/>
                </a:solidFill>
                <a:latin typeface="Calibri"/>
              </a:rPr>
              <a:t>0</a:t>
            </a:r>
          </a:p>
        </p:txBody>
      </p:sp>
      <p:sp>
        <p:nvSpPr>
          <p:cNvPr id="10" name="TextBox 9"/>
          <p:cNvSpPr txBox="1"/>
          <p:nvPr/>
        </p:nvSpPr>
        <p:spPr>
          <a:xfrm>
            <a:off x="9189720" y="2651760"/>
            <a:ext cx="2743200" cy="731520"/>
          </a:xfrm>
          <a:prstGeom prst="rect">
            <a:avLst/>
          </a:prstGeom>
          <a:noFill/>
        </p:spPr>
        <p:txBody>
          <a:bodyPr wrap="square" lIns="0" rIns="0" tIns="0" bIns="0" anchor="ctr"/>
          <a:lstStyle/>
          <a:p>
            <a:pPr algn="ctr">
              <a:spcBef>
                <a:spcPts val="0"/>
              </a:spcBef>
              <a:spcAft>
                <a:spcPts val="0"/>
              </a:spcAft>
            </a:pPr>
            <a:r>
              <a:rPr sz="2200" b="0">
                <a:solidFill>
                  <a:srgbClr val="142033"/>
                </a:solidFill>
                <a:latin typeface="Calibri"/>
              </a:rPr>
              <a:t>availability incidents</a:t>
            </a:r>
          </a:p>
        </p:txBody>
      </p:sp>
      <p:sp>
        <p:nvSpPr>
          <p:cNvPr id="11" name="TextBox 10"/>
          <p:cNvSpPr txBox="1"/>
          <p:nvPr/>
        </p:nvSpPr>
        <p:spPr>
          <a:xfrm>
            <a:off x="548640" y="3931920"/>
            <a:ext cx="11064240" cy="64008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Game logic runs in the browser, so play does not wait on a server round trip.</a:t>
            </a:r>
          </a:p>
        </p:txBody>
      </p:sp>
      <p:sp>
        <p:nvSpPr>
          <p:cNvPr id="12" name="TextBox 11"/>
          <p:cNvSpPr txBox="1"/>
          <p:nvPr/>
        </p:nvSpPr>
        <p:spPr>
          <a:xfrm>
            <a:off x="548640" y="4846320"/>
            <a:ext cx="11064240" cy="1097280"/>
          </a:xfrm>
          <a:prstGeom prst="rect">
            <a:avLst/>
          </a:prstGeom>
          <a:noFill/>
        </p:spPr>
        <p:txBody>
          <a:bodyPr wrap="square" lIns="0" rIns="0" tIns="0" bIns="0" anchor="t"/>
          <a:lstStyle/>
          <a:p>
            <a:pPr algn="l">
              <a:spcBef>
                <a:spcPts val="0"/>
              </a:spcBef>
              <a:spcAft>
                <a:spcPts val="0"/>
              </a:spcAft>
            </a:pPr>
            <a:r>
              <a:rPr sz="2200" b="0">
                <a:solidFill>
                  <a:srgbClr val="142033"/>
                </a:solidFill>
                <a:latin typeface="Calibri"/>
              </a:rPr>
              <a:t>From the work-in-progress deployment report. Not a new benchmark of this public release, and not a learning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rPr>
              <a:t>Backup · Homepage and a Token Forge round</a:t>
            </a:r>
          </a:p>
        </p:txBody>
      </p:sp>
      <p:pic>
        <p:nvPicPr>
          <p:cNvPr id="3" name="Picture 2" descr="01_home.png"/>
          <p:cNvPicPr>
            <a:picLocks noChangeAspect="1"/>
          </p:cNvPicPr>
          <p:nvPr/>
        </p:nvPicPr>
        <p:blipFill>
          <a:blip r:embed="rId2"/>
          <a:stretch>
            <a:fillRect/>
          </a:stretch>
        </p:blipFill>
        <p:spPr>
          <a:xfrm>
            <a:off x="274320" y="1821656"/>
            <a:ext cx="5715000" cy="3214687"/>
          </a:xfrm>
          <a:prstGeom prst="rect">
            <a:avLst/>
          </a:prstGeom>
        </p:spPr>
      </p:pic>
      <p:pic>
        <p:nvPicPr>
          <p:cNvPr id="4" name="Picture 3" descr="04_token_forge_gameplay.png"/>
          <p:cNvPicPr>
            <a:picLocks noChangeAspect="1"/>
          </p:cNvPicPr>
          <p:nvPr/>
        </p:nvPicPr>
        <p:blipFill>
          <a:blip r:embed="rId3"/>
          <a:stretch>
            <a:fillRect/>
          </a:stretch>
        </p:blipFill>
        <p:spPr>
          <a:xfrm>
            <a:off x="6172200" y="1821656"/>
            <a:ext cx="5715000" cy="3214687"/>
          </a:xfrm>
          <a:prstGeom prst="rect">
            <a:avLst/>
          </a:prstGeom>
        </p:spPr>
      </p:pic>
      <p:sp>
        <p:nvSpPr>
          <p:cNvPr id="5" name="TextBox 4"/>
          <p:cNvSpPr txBox="1"/>
          <p:nvPr/>
        </p:nvSpPr>
        <p:spPr>
          <a:xfrm>
            <a:off x="27432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Homepage</a:t>
            </a:r>
          </a:p>
        </p:txBody>
      </p:sp>
      <p:sp>
        <p:nvSpPr>
          <p:cNvPr id="6" name="TextBox 5"/>
          <p:cNvSpPr txBox="1"/>
          <p:nvPr/>
        </p:nvSpPr>
        <p:spPr>
          <a:xfrm>
            <a:off x="617220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Reference game, before feedback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033"/>
        </a:solidFill>
        <a:effectLst/>
      </p:bgPr>
    </p:bg>
    <p:spTree>
      <p:nvGrpSpPr>
        <p:cNvPr id="1" name=""/>
        <p:cNvGrpSpPr/>
        <p:nvPr/>
      </p:nvGrpSpPr>
      <p:grpSpPr/>
      <p:sp>
        <p:nvSpPr>
          <p:cNvPr id="2" name="TextBox 1"/>
          <p:cNvSpPr txBox="1"/>
          <p:nvPr/>
        </p:nvSpPr>
        <p:spPr>
          <a:xfrm>
            <a:off x="365760" y="137160"/>
            <a:ext cx="11430000" cy="45720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rPr>
              <a:t>Backup · A prototype game and the capstone</a:t>
            </a:r>
          </a:p>
        </p:txBody>
      </p:sp>
      <p:pic>
        <p:nvPicPr>
          <p:cNvPr id="3" name="Picture 2" descr="10_systems_forge.png"/>
          <p:cNvPicPr>
            <a:picLocks noChangeAspect="1"/>
          </p:cNvPicPr>
          <p:nvPr/>
        </p:nvPicPr>
        <p:blipFill>
          <a:blip r:embed="rId2"/>
          <a:stretch>
            <a:fillRect/>
          </a:stretch>
        </p:blipFill>
        <p:spPr>
          <a:xfrm>
            <a:off x="274320" y="1821656"/>
            <a:ext cx="5715000" cy="3214687"/>
          </a:xfrm>
          <a:prstGeom prst="rect">
            <a:avLst/>
          </a:prstGeom>
        </p:spPr>
      </p:pic>
      <p:pic>
        <p:nvPicPr>
          <p:cNvPr id="4" name="Picture 3" descr="11_foundry.png"/>
          <p:cNvPicPr>
            <a:picLocks noChangeAspect="1"/>
          </p:cNvPicPr>
          <p:nvPr/>
        </p:nvPicPr>
        <p:blipFill>
          <a:blip r:embed="rId3"/>
          <a:stretch>
            <a:fillRect/>
          </a:stretch>
        </p:blipFill>
        <p:spPr>
          <a:xfrm>
            <a:off x="6172200" y="1821656"/>
            <a:ext cx="5715000" cy="3214687"/>
          </a:xfrm>
          <a:prstGeom prst="rect">
            <a:avLst/>
          </a:prstGeom>
        </p:spPr>
      </p:pic>
      <p:sp>
        <p:nvSpPr>
          <p:cNvPr id="5" name="TextBox 4"/>
          <p:cNvSpPr txBox="1"/>
          <p:nvPr/>
        </p:nvSpPr>
        <p:spPr>
          <a:xfrm>
            <a:off x="27432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Retrieval Lab, playable prototype</a:t>
            </a:r>
          </a:p>
        </p:txBody>
      </p:sp>
      <p:sp>
        <p:nvSpPr>
          <p:cNvPr id="6" name="TextBox 5"/>
          <p:cNvSpPr txBox="1"/>
          <p:nvPr/>
        </p:nvSpPr>
        <p:spPr>
          <a:xfrm>
            <a:off x="6172200" y="5943600"/>
            <a:ext cx="5715000" cy="640080"/>
          </a:xfrm>
          <a:prstGeom prst="rect">
            <a:avLst/>
          </a:prstGeom>
          <a:noFill/>
        </p:spPr>
        <p:txBody>
          <a:bodyPr wrap="square" lIns="0" rIns="0" tIns="0" bIns="0" anchor="ctr"/>
          <a:lstStyle/>
          <a:p>
            <a:pPr algn="ctr">
              <a:spcBef>
                <a:spcPts val="0"/>
              </a:spcBef>
              <a:spcAft>
                <a:spcPts val="0"/>
              </a:spcAft>
            </a:pPr>
            <a:r>
              <a:rPr sz="2000" b="1">
                <a:solidFill>
                  <a:srgbClr val="FFFFFF"/>
                </a:solidFill>
                <a:latin typeface="Calibri"/>
              </a:rPr>
              <a:t>Foundry Arena, playable prototype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Picture 1" descr="12_platform_evolution.png"/>
          <p:cNvPicPr>
            <a:picLocks noChangeAspect="1"/>
          </p:cNvPicPr>
          <p:nvPr/>
        </p:nvPicPr>
        <p:blipFill>
          <a:blip r:embed="rId2"/>
          <a:stretch>
            <a:fillRect/>
          </a:stretch>
        </p:blipFill>
        <p:spPr>
          <a:xfrm>
            <a:off x="0" y="0"/>
            <a:ext cx="12191999" cy="685799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56032"/>
            <a:ext cx="11247120" cy="640080"/>
          </a:xfrm>
          <a:prstGeom prst="rect">
            <a:avLst/>
          </a:prstGeom>
          <a:noFill/>
        </p:spPr>
        <p:txBody>
          <a:bodyPr wrap="square" lIns="0" rIns="0" tIns="0" bIns="0" anchor="t"/>
          <a:lstStyle/>
          <a:p>
            <a:pPr algn="l">
              <a:spcBef>
                <a:spcPts val="0"/>
              </a:spcBef>
              <a:spcAft>
                <a:spcPts val="0"/>
              </a:spcAft>
            </a:pPr>
            <a:r>
              <a:rPr sz="3200" b="1">
                <a:solidFill>
                  <a:srgbClr val="142033"/>
                </a:solidFill>
                <a:latin typeface="Calibri"/>
              </a:rPr>
              <a:t>Backup · Feasibility feedback, not a learning result</a:t>
            </a:r>
          </a:p>
        </p:txBody>
      </p:sp>
      <p:sp>
        <p:nvSpPr>
          <p:cNvPr id="3" name="TextBox 2"/>
          <p:cNvSpPr txBox="1"/>
          <p:nvPr/>
        </p:nvSpPr>
        <p:spPr>
          <a:xfrm>
            <a:off x="548640" y="128016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Two faculty reviewers, Winter 2026.</a:t>
            </a:r>
          </a:p>
        </p:txBody>
      </p:sp>
      <p:sp>
        <p:nvSpPr>
          <p:cNvPr id="4" name="TextBox 3"/>
          <p:cNvSpPr txBox="1"/>
          <p:nvPr/>
        </p:nvSpPr>
        <p:spPr>
          <a:xfrm>
            <a:off x="548640" y="214884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 author was then at Durham College. That is not the current affiliation.</a:t>
            </a:r>
          </a:p>
        </p:txBody>
      </p:sp>
      <p:sp>
        <p:nvSpPr>
          <p:cNvPr id="5" name="TextBox 4"/>
          <p:cNvSpPr txBox="1"/>
          <p:nvPr/>
        </p:nvSpPr>
        <p:spPr>
          <a:xfrm>
            <a:off x="548640" y="301752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They confirmed the platform runs.</a:t>
            </a:r>
          </a:p>
        </p:txBody>
      </p:sp>
      <p:sp>
        <p:nvSpPr>
          <p:cNvPr id="6" name="TextBox 5"/>
          <p:cNvSpPr txBox="1"/>
          <p:nvPr/>
        </p:nvSpPr>
        <p:spPr>
          <a:xfrm>
            <a:off x="548640" y="3886200"/>
            <a:ext cx="11064240" cy="731520"/>
          </a:xfrm>
          <a:prstGeom prst="rect">
            <a:avLst/>
          </a:prstGeom>
          <a:noFill/>
        </p:spPr>
        <p:txBody>
          <a:bodyPr wrap="square" lIns="0" rIns="0" tIns="0" bIns="0" anchor="t"/>
          <a:lstStyle/>
          <a:p>
            <a:pPr algn="l">
              <a:spcBef>
                <a:spcPts val="0"/>
              </a:spcBef>
              <a:spcAft>
                <a:spcPts val="0"/>
              </a:spcAft>
            </a:pPr>
            <a:r>
              <a:rPr sz="2600" b="0">
                <a:solidFill>
                  <a:srgbClr val="142033"/>
                </a:solidFill>
                <a:latin typeface="Calibri"/>
              </a:rPr>
              <a:t>They named adaptive difficulty as the next priority.</a:t>
            </a:r>
          </a:p>
        </p:txBody>
      </p:sp>
      <p:sp>
        <p:nvSpPr>
          <p:cNvPr id="7" name="TextBox 6"/>
          <p:cNvSpPr txBox="1"/>
          <p:nvPr/>
        </p:nvSpPr>
        <p:spPr>
          <a:xfrm>
            <a:off x="548640" y="4754880"/>
            <a:ext cx="11064240" cy="731520"/>
          </a:xfrm>
          <a:prstGeom prst="rect">
            <a:avLst/>
          </a:prstGeom>
          <a:noFill/>
        </p:spPr>
        <p:txBody>
          <a:bodyPr wrap="square" lIns="0" rIns="0" tIns="0" bIns="0" anchor="t"/>
          <a:lstStyle/>
          <a:p>
            <a:pPr algn="l">
              <a:spcBef>
                <a:spcPts val="0"/>
              </a:spcBef>
              <a:spcAft>
                <a:spcPts val="0"/>
              </a:spcAft>
            </a:pPr>
            <a:r>
              <a:rPr sz="2600" b="1">
                <a:solidFill>
                  <a:srgbClr val="142033"/>
                </a:solidFill>
                <a:latin typeface="Calibri"/>
              </a:rPr>
              <a:t>This is face-validity feedback. It is not evidence of learning effectiveness.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Odyssey — FIE 2026</dc:title>
  <dc:subject>Work in Progress, Innovative Practice. FIE 2026.</dc:subject>
  <dc:creator>Priyamvada Tripathi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