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minutes. One idea per slide. Token Forge is the reference implementation. Games 2–13 are playable prototypes. Do not claim a measured learning gain. Live site and repository are on the closing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is practice, not the absence of ML theory. These four competencies frame the curriculum. Do not claim Odyssey has already closed the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Odyssey does not replace Playground or Spaces. It sequences decisions from a single mechanism to a constrained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Forge is the reference implementation. Games 2–13 are playable prototypes. Later tiers open after enough games meet the 70% instructional mastery benchmark. Systems Forge opens after 4 Cognitive Core games. Foundry Arena opens after 3 Systems Forge games. Say: Foundations, then systems, then synthesis.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strategies: immediate feedback, scaffolded hints, progressive difficulty, worked examples, authentic context. Sources on the diagram: Black and Wiliam, Vygotsky, Sweller, Bloom. A hint costs one point. The design supports practice. It is not a measured learning 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Forge, one decision, then the reason. Reference implementation. The round uses the shipped signature def refund_total(items: list[str]) -&gt; int:. SentencePiece is selected. The pieces are authored examples. Token count, efficiency, and the exercise cost are arithmetic on those pieces, not a live commercial tokenizer. Callouts: scenario pieces, count and cost, learner choice, immediate feedback. Round score is 10 of 10 with no hint penalty. Research mode is off by default. No paid model API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Orientation, decision, feedback, hint or continue, next round. The concept guide reopens without resetting the round or the score. Mastery check is the 70% instructional mastery benchmark, not expertise. Self-evaluation does not change the score. Transfer is explaining a new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crop shows what students learn, status, minutes, and Bloom. Token Forge is Reference. The other games shown are playable prototypes. The 70% column is the instructional mastery benchmark, not a completion threshold and not professional expertise. A game title opens the student view. No account and no paid model API are required. Research mode is off unless an educator turns it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documented protocol for a future study. Learning effectiveness is not established. Pre and post are optional local 10-item checks. Logs stay in the browser unless research mode is turned on. Research mode is off by default. The study survey from the original prototype is not in this app. Interviews are planned and not shipped. If asked about faculty review: two reviewers gave feasibility and face-validity feedback during Winter 2026, while the author was at Durham College. That review is not proof of learning. Durham College is not the current affiliation.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the talk on this slide. The prototype supplied the curriculum. This release is React and TypeScript, local-first, on GitHub Pages, with no paid API. Token Forge uses authored, precomputed educational segmentations. No archived Base44 screenshots are in the repository. Contact: pia.tripathi@tufts.edu. Remaining slides are backup.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speed. Do not present these numbers as evidence that students learned.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Homepage states 13 games, 3 tiers, and no paid API. Gameplay shows the shipped Python signature and four authored rows. These are the current app, not the original prototype.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mode is off by default. The analytics adapter is unused unless research mode and a project URL are set. The model adapter defaults to a mock. The 13 games do not call it. Token Forge uses authored, precomputed educational segmentations.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N=2. Do not generalize to student learning gains. Current affiliation is Tufts.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show an unlabeled historical screenshot. No original Base44 captures were archived. The prototype supplied the curriculum. This release stands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piaattufts.github.io/llmodyssey/" TargetMode="External"/><Relationship Id="rId4" Type="http://schemas.openxmlformats.org/officeDocument/2006/relationships/hyperlink" Target="https://github.com/piaattufts/llmodyssey"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17320"/>
            <a:ext cx="11064240" cy="1920240"/>
          </a:xfrm>
          <a:prstGeom prst="rect">
            <a:avLst/>
          </a:prstGeom>
          <a:noFill/>
        </p:spPr>
        <p:txBody>
          <a:bodyPr wrap="square" lIns="0" rIns="0" tIns="0" bIns="0" anchor="t"/>
          <a:lstStyle/>
          <a:p>
            <a:pPr algn="l">
              <a:spcBef>
                <a:spcPts val="0"/>
              </a:spcBef>
              <a:spcAft>
                <a:spcPts val="0"/>
              </a:spcAft>
            </a:pPr>
            <a:r>
              <a:rPr sz="3600" b="1">
                <a:solidFill>
                  <a:srgbClr val="142033"/>
                </a:solidFill>
                <a:latin typeface="Calibri"/>
              </a:rPr>
              <a:t>LLM Odyssey: A Game-Based Platform for Teaching LLM Engineering Concepts</a:t>
            </a:r>
          </a:p>
        </p:txBody>
      </p:sp>
      <p:sp>
        <p:nvSpPr>
          <p:cNvPr id="4" name="TextBox 3"/>
          <p:cNvSpPr txBox="1"/>
          <p:nvPr/>
        </p:nvSpPr>
        <p:spPr>
          <a:xfrm>
            <a:off x="640080" y="3657600"/>
            <a:ext cx="10515600" cy="1463040"/>
          </a:xfrm>
          <a:prstGeom prst="rect">
            <a:avLst/>
          </a:prstGeom>
          <a:noFill/>
        </p:spPr>
        <p:txBody>
          <a:bodyPr wrap="square" lIns="0" rIns="0" tIns="0" bIns="0" anchor="t"/>
          <a:lstStyle/>
          <a:p>
            <a:pPr algn="l">
              <a:spcBef>
                <a:spcPts val="0"/>
              </a:spcBef>
              <a:spcAft>
                <a:spcPts val="0"/>
              </a:spcAft>
            </a:pPr>
            <a:r>
              <a:rPr sz="2400" b="0">
                <a:solidFill>
                  <a:srgbClr val="142033"/>
                </a:solidFill>
                <a:latin typeface="Calibri"/>
              </a:rPr>
              <a:t>Priyamvada Tripathi</a:t>
            </a:r>
          </a:p>
          <a:p>
            <a:pPr algn="l">
              <a:spcBef>
                <a:spcPts val="0"/>
              </a:spcBef>
              <a:spcAft>
                <a:spcPts val="0"/>
              </a:spcAft>
            </a:pPr>
            <a:r>
              <a:rPr sz="2400" b="0">
                <a:solidFill>
                  <a:srgbClr val="142033"/>
                </a:solidFill>
                <a:latin typeface="Calibri"/>
              </a:rPr>
              <a:t>Tufts Institute for Artificial Intelligence</a:t>
            </a:r>
          </a:p>
          <a:p>
            <a:pPr algn="l">
              <a:spcBef>
                <a:spcPts val="0"/>
              </a:spcBef>
              <a:spcAft>
                <a:spcPts val="0"/>
              </a:spcAft>
            </a:pPr>
            <a:r>
              <a:rPr sz="2400" b="0">
                <a:solidFill>
                  <a:srgbClr val="142033"/>
                </a:solidFill>
                <a:latin typeface="Calibri"/>
              </a:rPr>
              <a:t>Tufts University</a:t>
            </a:r>
          </a:p>
        </p:txBody>
      </p:sp>
      <p:sp>
        <p:nvSpPr>
          <p:cNvPr id="5" name="TextBox 4"/>
          <p:cNvSpPr txBox="1"/>
          <p:nvPr/>
        </p:nvSpPr>
        <p:spPr>
          <a:xfrm>
            <a:off x="640080" y="5623560"/>
            <a:ext cx="10515600" cy="548640"/>
          </a:xfrm>
          <a:prstGeom prst="rect">
            <a:avLst/>
          </a:prstGeom>
          <a:noFill/>
        </p:spPr>
        <p:txBody>
          <a:bodyPr wrap="square" lIns="0" rIns="0" tIns="0" bIns="0" anchor="t"/>
          <a:lstStyle/>
          <a:p>
            <a:pPr algn="l">
              <a:spcBef>
                <a:spcPts val="0"/>
              </a:spcBef>
              <a:spcAft>
                <a:spcPts val="0"/>
              </a:spcAft>
            </a:pPr>
            <a:r>
              <a:rPr sz="2000" b="0">
                <a:solidFill>
                  <a:srgbClr val="3E4C5E"/>
                </a:solidFill>
                <a:latin typeface="Calibri"/>
              </a:rPr>
              <a:t>Work in Progress, Innovative Practice  ·  FIE 2026, Paphos, Cyprus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1554480"/>
          </a:xfrm>
          <a:prstGeom prst="rect">
            <a:avLst/>
          </a:prstGeom>
          <a:noFill/>
        </p:spPr>
        <p:txBody>
          <a:bodyPr wrap="square" lIns="0" rIns="0" tIns="0" bIns="0" anchor="t"/>
          <a:lstStyle/>
          <a:p>
            <a:pPr algn="l">
              <a:spcBef>
                <a:spcPts val="0"/>
              </a:spcBef>
              <a:spcAft>
                <a:spcPts val="0"/>
              </a:spcAft>
            </a:pPr>
            <a:r>
              <a:rPr sz="3600" b="1">
                <a:solidFill>
                  <a:srgbClr val="142033"/>
                </a:solidFill>
                <a:latin typeface="Calibri"/>
              </a:rPr>
              <a:t>CS graduates get little hands-on</a:t>
            </a:r>
          </a:p>
          <a:p>
            <a:pPr algn="l">
              <a:spcBef>
                <a:spcPts val="0"/>
              </a:spcBef>
              <a:spcAft>
                <a:spcPts val="0"/>
              </a:spcAft>
            </a:pPr>
            <a:r>
              <a:rPr sz="3600" b="1">
                <a:solidFill>
                  <a:srgbClr val="142033"/>
                </a:solidFill>
                <a:latin typeface="Calibri"/>
              </a:rPr>
              <a:t>LLM engineering practice.</a:t>
            </a:r>
          </a:p>
        </p:txBody>
      </p:sp>
      <p:sp>
        <p:nvSpPr>
          <p:cNvPr id="3" name="TextBox 2"/>
          <p:cNvSpPr txBox="1"/>
          <p:nvPr/>
        </p:nvSpPr>
        <p:spPr>
          <a:xfrm>
            <a:off x="548640" y="2057400"/>
            <a:ext cx="11064240" cy="640080"/>
          </a:xfrm>
          <a:prstGeom prst="rect">
            <a:avLst/>
          </a:prstGeom>
          <a:noFill/>
        </p:spPr>
        <p:txBody>
          <a:bodyPr wrap="square" lIns="0" rIns="0" tIns="0" bIns="0" anchor="t"/>
          <a:lstStyle/>
          <a:p>
            <a:pPr algn="l">
              <a:spcBef>
                <a:spcPts val="0"/>
              </a:spcBef>
              <a:spcAft>
                <a:spcPts val="0"/>
              </a:spcAft>
            </a:pPr>
            <a:r>
              <a:rPr sz="2400" b="0">
                <a:solidFill>
                  <a:srgbClr val="142033"/>
                </a:solidFill>
                <a:latin typeface="Calibri"/>
              </a:rPr>
              <a:t>Practitioners name four competencies that programs do not consistently develop.</a:t>
            </a:r>
          </a:p>
        </p:txBody>
      </p:sp>
      <p:sp>
        <p:nvSpPr>
          <p:cNvPr id="4" name="Rounded Rectangle 3"/>
          <p:cNvSpPr/>
          <p:nvPr/>
        </p:nvSpPr>
        <p:spPr>
          <a:xfrm>
            <a:off x="548640" y="297180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20040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Prompt engineering</a:t>
            </a:r>
          </a:p>
        </p:txBody>
      </p:sp>
      <p:sp>
        <p:nvSpPr>
          <p:cNvPr id="6" name="Rounded Rectangle 5"/>
          <p:cNvSpPr/>
          <p:nvPr/>
        </p:nvSpPr>
        <p:spPr>
          <a:xfrm>
            <a:off x="6217920" y="297180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320040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Retrieval-augmented generation</a:t>
            </a:r>
          </a:p>
        </p:txBody>
      </p:sp>
      <p:sp>
        <p:nvSpPr>
          <p:cNvPr id="8" name="Rounded Rectangle 7"/>
          <p:cNvSpPr/>
          <p:nvPr/>
        </p:nvSpPr>
        <p:spPr>
          <a:xfrm>
            <a:off x="548640" y="420624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43484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Fine-tuning</a:t>
            </a:r>
          </a:p>
        </p:txBody>
      </p:sp>
      <p:sp>
        <p:nvSpPr>
          <p:cNvPr id="10" name="Rounded Rectangle 9"/>
          <p:cNvSpPr/>
          <p:nvPr/>
        </p:nvSpPr>
        <p:spPr>
          <a:xfrm>
            <a:off x="6217920" y="420624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43484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Production deployment</a:t>
            </a:r>
          </a:p>
        </p:txBody>
      </p:sp>
      <p:sp>
        <p:nvSpPr>
          <p:cNvPr id="12" name="TextBox 11"/>
          <p:cNvSpPr txBox="1"/>
          <p:nvPr/>
        </p:nvSpPr>
        <p:spPr>
          <a:xfrm>
            <a:off x="548640" y="6126480"/>
            <a:ext cx="11064240" cy="411480"/>
          </a:xfrm>
          <a:prstGeom prst="rect">
            <a:avLst/>
          </a:prstGeom>
          <a:noFill/>
        </p:spPr>
        <p:txBody>
          <a:bodyPr wrap="square" lIns="0" rIns="0" tIns="0" bIns="0" anchor="t"/>
          <a:lstStyle/>
          <a:p>
            <a:pPr algn="l">
              <a:spcBef>
                <a:spcPts val="0"/>
              </a:spcBef>
              <a:spcAft>
                <a:spcPts val="0"/>
              </a:spcAft>
            </a:pPr>
            <a:r>
              <a:rPr sz="1800" b="0">
                <a:solidFill>
                  <a:srgbClr val="3E4C5E"/>
                </a:solidFill>
                <a:latin typeface="Calibri"/>
              </a:rPr>
              <a:t>Bommasani et al., 2022.  Huyen, Designing Machine Learning Systems, 2022.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640080"/>
          </a:xfrm>
          <a:prstGeom prst="rect">
            <a:avLst/>
          </a:prstGeom>
          <a:noFill/>
        </p:spPr>
        <p:txBody>
          <a:bodyPr wrap="square" lIns="0" rIns="0" tIns="0" bIns="0" anchor="t"/>
          <a:lstStyle/>
          <a:p>
            <a:pPr algn="l">
              <a:spcBef>
                <a:spcPts val="0"/>
              </a:spcBef>
              <a:spcAft>
                <a:spcPts val="0"/>
              </a:spcAft>
            </a:pPr>
            <a:r>
              <a:rPr sz="3200" b="1">
                <a:solidFill>
                  <a:srgbClr val="142033"/>
                </a:solidFill>
                <a:latin typeface="Calibri"/>
              </a:rPr>
              <a:t>Many existing tools focus on individual concepts.</a:t>
            </a:r>
          </a:p>
        </p:txBody>
      </p:sp>
      <p:sp>
        <p:nvSpPr>
          <p:cNvPr id="3" name="TextBox 2"/>
          <p:cNvSpPr txBox="1"/>
          <p:nvPr/>
        </p:nvSpPr>
        <p:spPr>
          <a:xfrm>
            <a:off x="502920" y="1005840"/>
            <a:ext cx="11155680" cy="640080"/>
          </a:xfrm>
          <a:prstGeom prst="rect">
            <a:avLst/>
          </a:prstGeom>
          <a:noFill/>
        </p:spPr>
        <p:txBody>
          <a:bodyPr wrap="square" lIns="0" rIns="0" tIns="0" bIns="0" anchor="t"/>
          <a:lstStyle/>
          <a:p>
            <a:pPr algn="l">
              <a:spcBef>
                <a:spcPts val="0"/>
              </a:spcBef>
              <a:spcAft>
                <a:spcPts val="0"/>
              </a:spcAft>
            </a:pPr>
            <a:r>
              <a:rPr sz="3200" b="1">
                <a:solidFill>
                  <a:srgbClr val="1B4F8A"/>
                </a:solidFill>
                <a:latin typeface="Calibri"/>
              </a:rPr>
              <a:t>LLM Odyssey integrates them into a scaffolded learning pathway.</a:t>
            </a:r>
          </a:p>
        </p:txBody>
      </p:sp>
      <p:sp>
        <p:nvSpPr>
          <p:cNvPr id="4" name="Rounded Rectangle 3"/>
          <p:cNvSpPr/>
          <p:nvPr/>
        </p:nvSpPr>
        <p:spPr>
          <a:xfrm>
            <a:off x="502920" y="1965960"/>
            <a:ext cx="5349240" cy="4160520"/>
          </a:xfrm>
          <a:prstGeom prst="round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4754880" cy="502920"/>
          </a:xfrm>
          <a:prstGeom prst="rect">
            <a:avLst/>
          </a:prstGeom>
          <a:noFill/>
        </p:spPr>
        <p:txBody>
          <a:bodyPr wrap="square" lIns="0" rIns="0" tIns="0" bIns="0" anchor="t"/>
          <a:lstStyle/>
          <a:p>
            <a:pPr algn="l">
              <a:spcBef>
                <a:spcPts val="0"/>
              </a:spcBef>
              <a:spcAft>
                <a:spcPts val="0"/>
              </a:spcAft>
            </a:pPr>
            <a:r>
              <a:rPr sz="2600" b="1">
                <a:solidFill>
                  <a:srgbClr val="3E4C5E"/>
                </a:solidFill>
                <a:latin typeface="Calibri"/>
              </a:rPr>
              <a:t>What exists</a:t>
            </a:r>
          </a:p>
        </p:txBody>
      </p:sp>
      <p:sp>
        <p:nvSpPr>
          <p:cNvPr id="6" name="TextBox 5"/>
          <p:cNvSpPr txBox="1"/>
          <p:nvPr/>
        </p:nvSpPr>
        <p:spPr>
          <a:xfrm>
            <a:off x="822960" y="288036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OpenAI Playground</a:t>
            </a:r>
          </a:p>
        </p:txBody>
      </p:sp>
      <p:sp>
        <p:nvSpPr>
          <p:cNvPr id="7" name="TextBox 6"/>
          <p:cNvSpPr txBox="1"/>
          <p:nvPr/>
        </p:nvSpPr>
        <p:spPr>
          <a:xfrm>
            <a:off x="822960" y="379476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Hugging Face Spaces</a:t>
            </a:r>
          </a:p>
        </p:txBody>
      </p:sp>
      <p:sp>
        <p:nvSpPr>
          <p:cNvPr id="8" name="TextBox 7"/>
          <p:cNvSpPr txBox="1"/>
          <p:nvPr/>
        </p:nvSpPr>
        <p:spPr>
          <a:xfrm>
            <a:off x="822960" y="470916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Lectures and textbook examples</a:t>
            </a:r>
          </a:p>
        </p:txBody>
      </p:sp>
      <p:sp>
        <p:nvSpPr>
          <p:cNvPr id="9" name="Rounded Rectangle 8"/>
          <p:cNvSpPr/>
          <p:nvPr/>
        </p:nvSpPr>
        <p:spPr>
          <a:xfrm>
            <a:off x="6309360" y="1965960"/>
            <a:ext cx="5349240" cy="4160520"/>
          </a:xfrm>
          <a:prstGeom prst="roundRect">
            <a:avLst/>
          </a:prstGeom>
          <a:solidFill>
            <a:srgbClr val="E7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2148840"/>
            <a:ext cx="4754880" cy="502920"/>
          </a:xfrm>
          <a:prstGeom prst="rect">
            <a:avLst/>
          </a:prstGeom>
          <a:noFill/>
        </p:spPr>
        <p:txBody>
          <a:bodyPr wrap="square" lIns="0" rIns="0" tIns="0" bIns="0" anchor="t"/>
          <a:lstStyle/>
          <a:p>
            <a:pPr algn="l">
              <a:spcBef>
                <a:spcPts val="0"/>
              </a:spcBef>
              <a:spcAft>
                <a:spcPts val="0"/>
              </a:spcAft>
            </a:pPr>
            <a:r>
              <a:rPr sz="2600" b="1">
                <a:solidFill>
                  <a:srgbClr val="1B4F8A"/>
                </a:solidFill>
                <a:latin typeface="Calibri"/>
              </a:rPr>
              <a:t>What Odyssey adds</a:t>
            </a:r>
          </a:p>
        </p:txBody>
      </p:sp>
      <p:sp>
        <p:nvSpPr>
          <p:cNvPr id="11" name="TextBox 10"/>
          <p:cNvSpPr txBox="1"/>
          <p:nvPr/>
        </p:nvSpPr>
        <p:spPr>
          <a:xfrm>
            <a:off x="6629400" y="288036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Progressive difficulty</a:t>
            </a:r>
          </a:p>
        </p:txBody>
      </p:sp>
      <p:sp>
        <p:nvSpPr>
          <p:cNvPr id="12" name="TextBox 11"/>
          <p:cNvSpPr txBox="1"/>
          <p:nvPr/>
        </p:nvSpPr>
        <p:spPr>
          <a:xfrm>
            <a:off x="6629400" y="379476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Pedagogical scaffolding</a:t>
            </a:r>
          </a:p>
        </p:txBody>
      </p:sp>
      <p:sp>
        <p:nvSpPr>
          <p:cNvPr id="13" name="TextBox 12"/>
          <p:cNvSpPr txBox="1"/>
          <p:nvPr/>
        </p:nvSpPr>
        <p:spPr>
          <a:xfrm>
            <a:off x="6629400" y="470916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A path from tokenization to a design brief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13 games move from foundations to systems to synthesis</a:t>
            </a:r>
          </a:p>
        </p:txBody>
      </p:sp>
      <p:pic>
        <p:nvPicPr>
          <p:cNvPr id="3" name="Picture 2" descr="01_curriculum_tiers.png"/>
          <p:cNvPicPr>
            <a:picLocks noChangeAspect="1"/>
          </p:cNvPicPr>
          <p:nvPr/>
        </p:nvPicPr>
        <p:blipFill>
          <a:blip r:embed="rId2"/>
          <a:stretch>
            <a:fillRect/>
          </a:stretch>
        </p:blipFill>
        <p:spPr>
          <a:xfrm>
            <a:off x="1120140" y="822960"/>
            <a:ext cx="9948672" cy="5596128"/>
          </a:xfrm>
          <a:prstGeom prst="rect">
            <a:avLst/>
          </a:prstGeom>
        </p:spPr>
      </p:pic>
      <p:sp>
        <p:nvSpPr>
          <p:cNvPr id="4" name="TextBox 3"/>
          <p:cNvSpPr txBox="1"/>
          <p:nvPr/>
        </p:nvSpPr>
        <p:spPr>
          <a:xfrm>
            <a:off x="365760" y="6355080"/>
            <a:ext cx="11475720" cy="384048"/>
          </a:xfrm>
          <a:prstGeom prst="rect">
            <a:avLst/>
          </a:prstGeom>
          <a:noFill/>
        </p:spPr>
        <p:txBody>
          <a:bodyPr wrap="square" lIns="0" rIns="0" tIns="0" bIns="0" anchor="ctr"/>
          <a:lstStyle/>
          <a:p>
            <a:pPr algn="ctr">
              <a:spcBef>
                <a:spcPts val="0"/>
              </a:spcBef>
              <a:spcAft>
                <a:spcPts val="0"/>
              </a:spcAft>
            </a:pPr>
            <a:r>
              <a:rPr sz="2000" b="1">
                <a:solidFill>
                  <a:srgbClr val="142033"/>
                </a:solidFill>
                <a:latin typeface="Calibri"/>
              </a:rPr>
              <a:t>Later tiers open at a 70% instructional mastery benchmark. That is not a completion threshold and not professional expertise.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Learning-science principles become game mechanics</a:t>
            </a:r>
          </a:p>
        </p:txBody>
      </p:sp>
      <p:pic>
        <p:nvPicPr>
          <p:cNvPr id="3" name="Picture 2" descr="04_pedagogy_mapping.png"/>
          <p:cNvPicPr>
            <a:picLocks noChangeAspect="1"/>
          </p:cNvPicPr>
          <p:nvPr/>
        </p:nvPicPr>
        <p:blipFill>
          <a:blip r:embed="rId2"/>
          <a:stretch>
            <a:fillRect/>
          </a:stretch>
        </p:blipFill>
        <p:spPr>
          <a:xfrm>
            <a:off x="827532" y="822960"/>
            <a:ext cx="10533888" cy="592531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FFFFFF"/>
                </a:solidFill>
                <a:latin typeface="Calibri"/>
              </a:rPr>
              <a:t>Students make an engineering decision — and immediately see why it mattered</a:t>
            </a:r>
          </a:p>
        </p:txBody>
      </p:sp>
      <p:pic>
        <p:nvPicPr>
          <p:cNvPr id="3" name="Picture 2" descr="05_token_forge_presentation_crop.png"/>
          <p:cNvPicPr>
            <a:picLocks noChangeAspect="1"/>
          </p:cNvPicPr>
          <p:nvPr/>
        </p:nvPicPr>
        <p:blipFill>
          <a:blip r:embed="rId2"/>
          <a:stretch>
            <a:fillRect/>
          </a:stretch>
        </p:blipFill>
        <p:spPr>
          <a:xfrm>
            <a:off x="506682" y="822960"/>
            <a:ext cx="11175588" cy="592531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Each game follows the same scaffolded learning cycle</a:t>
            </a:r>
          </a:p>
        </p:txBody>
      </p:sp>
      <p:pic>
        <p:nvPicPr>
          <p:cNvPr id="3" name="Picture 2" descr="03_game_learning_loop.png"/>
          <p:cNvPicPr>
            <a:picLocks noChangeAspect="1"/>
          </p:cNvPicPr>
          <p:nvPr/>
        </p:nvPicPr>
        <p:blipFill>
          <a:blip r:embed="rId2"/>
          <a:stretch>
            <a:fillRect/>
          </a:stretch>
        </p:blipFill>
        <p:spPr>
          <a:xfrm>
            <a:off x="827532" y="822960"/>
            <a:ext cx="10533888" cy="592531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FFFFFF"/>
                </a:solidFill>
                <a:latin typeface="Calibri"/>
              </a:rPr>
              <a:t>Educators can inspect the instructional design before assigning a game</a:t>
            </a:r>
          </a:p>
        </p:txBody>
      </p:sp>
      <p:pic>
        <p:nvPicPr>
          <p:cNvPr id="3" name="Picture 2" descr="07_educator_presentation_crop.png"/>
          <p:cNvPicPr>
            <a:picLocks noChangeAspect="1"/>
          </p:cNvPicPr>
          <p:nvPr/>
        </p:nvPicPr>
        <p:blipFill>
          <a:blip r:embed="rId2"/>
          <a:stretch>
            <a:fillRect/>
          </a:stretch>
        </p:blipFill>
        <p:spPr>
          <a:xfrm>
            <a:off x="553116" y="822960"/>
            <a:ext cx="11082720" cy="592531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The next question is empirical: does Odyssey improve learning?</a:t>
            </a:r>
          </a:p>
        </p:txBody>
      </p:sp>
      <p:pic>
        <p:nvPicPr>
          <p:cNvPr id="3" name="Picture 2" descr="11_evaluation_flow.png"/>
          <p:cNvPicPr>
            <a:picLocks noChangeAspect="1"/>
          </p:cNvPicPr>
          <p:nvPr/>
        </p:nvPicPr>
        <p:blipFill>
          <a:blip r:embed="rId2"/>
          <a:stretch>
            <a:fillRect/>
          </a:stretch>
        </p:blipFill>
        <p:spPr>
          <a:xfrm>
            <a:off x="1120140" y="822960"/>
            <a:ext cx="9948672" cy="5596128"/>
          </a:xfrm>
          <a:prstGeom prst="rect">
            <a:avLst/>
          </a:prstGeom>
        </p:spPr>
      </p:pic>
      <p:sp>
        <p:nvSpPr>
          <p:cNvPr id="4" name="TextBox 3"/>
          <p:cNvSpPr txBox="1"/>
          <p:nvPr/>
        </p:nvSpPr>
        <p:spPr>
          <a:xfrm>
            <a:off x="365760" y="6355080"/>
            <a:ext cx="11475720" cy="384048"/>
          </a:xfrm>
          <a:prstGeom prst="rect">
            <a:avLst/>
          </a:prstGeom>
          <a:noFill/>
        </p:spPr>
        <p:txBody>
          <a:bodyPr wrap="square" lIns="0" rIns="0" tIns="0" bIns="0" anchor="ctr"/>
          <a:lstStyle/>
          <a:p>
            <a:pPr algn="ctr">
              <a:spcBef>
                <a:spcPts val="0"/>
              </a:spcBef>
              <a:spcAft>
                <a:spcPts val="0"/>
              </a:spcAft>
            </a:pPr>
            <a:r>
              <a:rPr sz="2000" b="1">
                <a:solidFill>
                  <a:srgbClr val="142033"/>
                </a:solidFill>
                <a:latin typeface="Calibri"/>
              </a:rPr>
              <a:t>Learning effectiveness has not yet been established.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From working prototype to reusable open-source teaching platform</a:t>
            </a:r>
          </a:p>
        </p:txBody>
      </p:sp>
      <p:pic>
        <p:nvPicPr>
          <p:cNvPr id="3" name="Picture 2" descr="12_platform_evolution.png"/>
          <p:cNvPicPr>
            <a:picLocks noChangeAspect="1"/>
          </p:cNvPicPr>
          <p:nvPr/>
        </p:nvPicPr>
        <p:blipFill>
          <a:blip r:embed="rId2"/>
          <a:stretch>
            <a:fillRect/>
          </a:stretch>
        </p:blipFill>
        <p:spPr>
          <a:xfrm>
            <a:off x="1120140" y="822960"/>
            <a:ext cx="9948672" cy="5596128"/>
          </a:xfrm>
          <a:prstGeom prst="rect">
            <a:avLst/>
          </a:prstGeom>
        </p:spPr>
      </p:pic>
      <p:sp>
        <p:nvSpPr>
          <p:cNvPr id="4" name="TextBox 3"/>
          <p:cNvSpPr txBox="1"/>
          <p:nvPr/>
        </p:nvSpPr>
        <p:spPr>
          <a:xfrm>
            <a:off x="365760" y="6355080"/>
            <a:ext cx="11475720" cy="384048"/>
          </a:xfrm>
          <a:prstGeom prst="rect">
            <a:avLst/>
          </a:prstGeom>
          <a:noFill/>
        </p:spPr>
        <p:txBody>
          <a:bodyPr wrap="square" lIns="0" rIns="0" tIns="0" bIns="0" anchor="ctr"/>
          <a:lstStyle/>
          <a:p>
            <a:pPr algn="ctr">
              <a:spcBef>
                <a:spcPts val="0"/>
              </a:spcBef>
              <a:spcAft>
                <a:spcPts val="0"/>
              </a:spcAft>
            </a:pPr>
            <a:r>
              <a:rPr sz="2000" b="1">
                <a:solidFill>
                  <a:srgbClr val="142033"/>
                </a:solidFill>
                <a:latin typeface="Calibri"/>
              </a:rPr>
              <a:t> </a:t>
            </a:r>
          </a:p>
        </p:txBody>
      </p:sp>
      <p:sp>
        <p:nvSpPr>
          <p:cNvPr id="5" name="Rectangle 4"/>
          <p:cNvSpPr/>
          <p:nvPr/>
        </p:nvSpPr>
        <p:spPr>
          <a:xfrm>
            <a:off x="0" y="6144768"/>
            <a:ext cx="12191999"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6254496"/>
            <a:ext cx="5852160" cy="457200"/>
          </a:xfrm>
          <a:prstGeom prst="rect">
            <a:avLst/>
          </a:prstGeom>
          <a:noFill/>
        </p:spPr>
        <p:txBody>
          <a:bodyPr wrap="square" lIns="0" rIns="0" tIns="0" bIns="0" anchor="ctr"/>
          <a:lstStyle/>
          <a:p>
            <a:pPr algn="ctr">
              <a:spcBef>
                <a:spcPts val="0"/>
              </a:spcBef>
              <a:spcAft>
                <a:spcPts val="0"/>
              </a:spcAft>
            </a:pPr>
            <a:r>
              <a:rPr sz="1800" b="1" u="sng">
                <a:solidFill>
                  <a:srgbClr val="1B4F8A"/>
                </a:solidFill>
                <a:latin typeface="Calibri"/>
                <a:hlinkClick r:id="rId3"/>
              </a:rPr>
              <a:t>https://piaattufts.github.io/llmodyssey/</a:t>
            </a:r>
          </a:p>
        </p:txBody>
      </p:sp>
      <p:sp>
        <p:nvSpPr>
          <p:cNvPr id="7" name="TextBox 6"/>
          <p:cNvSpPr txBox="1"/>
          <p:nvPr/>
        </p:nvSpPr>
        <p:spPr>
          <a:xfrm>
            <a:off x="6126480" y="6254496"/>
            <a:ext cx="5806440" cy="457200"/>
          </a:xfrm>
          <a:prstGeom prst="rect">
            <a:avLst/>
          </a:prstGeom>
          <a:noFill/>
        </p:spPr>
        <p:txBody>
          <a:bodyPr wrap="square" lIns="0" rIns="0" tIns="0" bIns="0" anchor="ctr"/>
          <a:lstStyle/>
          <a:p>
            <a:pPr algn="ctr">
              <a:spcBef>
                <a:spcPts val="0"/>
              </a:spcBef>
              <a:spcAft>
                <a:spcPts val="0"/>
              </a:spcAft>
            </a:pPr>
            <a:r>
              <a:rPr sz="1800" b="1" u="sng">
                <a:solidFill>
                  <a:srgbClr val="1B4F8A"/>
                </a:solidFill>
                <a:latin typeface="Calibri"/>
                <a:hlinkClick r:id="rId4"/>
              </a:rPr>
              <a:t>https://github.com/piaattufts/llmodyssey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56032"/>
            <a:ext cx="11338560" cy="640080"/>
          </a:xfrm>
          <a:prstGeom prst="rect">
            <a:avLst/>
          </a:prstGeom>
          <a:noFill/>
        </p:spPr>
        <p:txBody>
          <a:bodyPr wrap="square" lIns="0" rIns="0" tIns="0" bIns="0" anchor="t"/>
          <a:lstStyle/>
          <a:p>
            <a:pPr algn="l">
              <a:spcBef>
                <a:spcPts val="0"/>
              </a:spcBef>
              <a:spcAft>
                <a:spcPts val="0"/>
              </a:spcAft>
            </a:pPr>
            <a:r>
              <a:rPr sz="3000" b="1">
                <a:solidFill>
                  <a:srgbClr val="142033"/>
                </a:solidFill>
                <a:latin typeface="Calibri"/>
              </a:rPr>
              <a:t>Backup · Earlier deployment performance targets</a:t>
            </a:r>
          </a:p>
        </p:txBody>
      </p:sp>
      <p:sp>
        <p:nvSpPr>
          <p:cNvPr id="3" name="TextBox 2"/>
          <p:cNvSpPr txBox="1"/>
          <p:nvPr/>
        </p:nvSpPr>
        <p:spPr>
          <a:xfrm>
            <a:off x="41148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&lt; 16 ms</a:t>
            </a:r>
          </a:p>
        </p:txBody>
      </p:sp>
      <p:sp>
        <p:nvSpPr>
          <p:cNvPr id="4" name="TextBox 3"/>
          <p:cNvSpPr txBox="1"/>
          <p:nvPr/>
        </p:nvSpPr>
        <p:spPr>
          <a:xfrm>
            <a:off x="41148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interaction response</a:t>
            </a:r>
          </a:p>
        </p:txBody>
      </p:sp>
      <p:sp>
        <p:nvSpPr>
          <p:cNvPr id="5" name="TextBox 4"/>
          <p:cNvSpPr txBox="1"/>
          <p:nvPr/>
        </p:nvSpPr>
        <p:spPr>
          <a:xfrm>
            <a:off x="333756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&lt; 100 ms</a:t>
            </a:r>
          </a:p>
        </p:txBody>
      </p:sp>
      <p:sp>
        <p:nvSpPr>
          <p:cNvPr id="6" name="TextBox 5"/>
          <p:cNvSpPr txBox="1"/>
          <p:nvPr/>
        </p:nvSpPr>
        <p:spPr>
          <a:xfrm>
            <a:off x="333756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page load</a:t>
            </a:r>
          </a:p>
        </p:txBody>
      </p:sp>
      <p:sp>
        <p:nvSpPr>
          <p:cNvPr id="7" name="TextBox 6"/>
          <p:cNvSpPr txBox="1"/>
          <p:nvPr/>
        </p:nvSpPr>
        <p:spPr>
          <a:xfrm>
            <a:off x="626364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60 fps</a:t>
            </a:r>
          </a:p>
        </p:txBody>
      </p:sp>
      <p:sp>
        <p:nvSpPr>
          <p:cNvPr id="8" name="TextBox 7"/>
          <p:cNvSpPr txBox="1"/>
          <p:nvPr/>
        </p:nvSpPr>
        <p:spPr>
          <a:xfrm>
            <a:off x="626364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animations</a:t>
            </a:r>
          </a:p>
        </p:txBody>
      </p:sp>
      <p:sp>
        <p:nvSpPr>
          <p:cNvPr id="9" name="TextBox 8"/>
          <p:cNvSpPr txBox="1"/>
          <p:nvPr/>
        </p:nvSpPr>
        <p:spPr>
          <a:xfrm>
            <a:off x="918972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0</a:t>
            </a:r>
          </a:p>
        </p:txBody>
      </p:sp>
      <p:sp>
        <p:nvSpPr>
          <p:cNvPr id="10" name="TextBox 9"/>
          <p:cNvSpPr txBox="1"/>
          <p:nvPr/>
        </p:nvSpPr>
        <p:spPr>
          <a:xfrm>
            <a:off x="918972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availability incidents</a:t>
            </a:r>
          </a:p>
        </p:txBody>
      </p:sp>
      <p:sp>
        <p:nvSpPr>
          <p:cNvPr id="11" name="TextBox 10"/>
          <p:cNvSpPr txBox="1"/>
          <p:nvPr/>
        </p:nvSpPr>
        <p:spPr>
          <a:xfrm>
            <a:off x="548640" y="3840480"/>
            <a:ext cx="11064240" cy="64008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Game logic runs in the browser, so play does not wait on a server round trip.</a:t>
            </a:r>
          </a:p>
        </p:txBody>
      </p:sp>
      <p:sp>
        <p:nvSpPr>
          <p:cNvPr id="12" name="TextBox 11"/>
          <p:cNvSpPr txBox="1"/>
          <p:nvPr/>
        </p:nvSpPr>
        <p:spPr>
          <a:xfrm>
            <a:off x="548640" y="4709160"/>
            <a:ext cx="11064240" cy="109728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From an earlier deployment report. Not a new benchmark of this public release, and not a learning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sp>
        <p:nvSpPr>
          <p:cNvPr id="2" name="TextBox 1"/>
          <p:cNvSpPr txBox="1"/>
          <p:nvPr/>
        </p:nvSpPr>
        <p:spPr>
          <a:xfrm>
            <a:off x="365760" y="164592"/>
            <a:ext cx="11430000" cy="457200"/>
          </a:xfrm>
          <a:prstGeom prst="rect">
            <a:avLst/>
          </a:prstGeom>
          <a:noFill/>
        </p:spPr>
        <p:txBody>
          <a:bodyPr wrap="square" lIns="0" rIns="0" tIns="0" bIns="0" anchor="t"/>
          <a:lstStyle/>
          <a:p>
            <a:pPr algn="l">
              <a:spcBef>
                <a:spcPts val="0"/>
              </a:spcBef>
              <a:spcAft>
                <a:spcPts val="0"/>
              </a:spcAft>
            </a:pPr>
            <a:r>
              <a:rPr sz="2600" b="1">
                <a:solidFill>
                  <a:srgbClr val="FFFFFF"/>
                </a:solidFill>
                <a:latin typeface="Calibri"/>
              </a:rPr>
              <a:t>Backup · Current open-source app</a:t>
            </a:r>
          </a:p>
        </p:txBody>
      </p:sp>
      <p:pic>
        <p:nvPicPr>
          <p:cNvPr id="3" name="Picture 2" descr="01_home.png"/>
          <p:cNvPicPr>
            <a:picLocks noChangeAspect="1"/>
          </p:cNvPicPr>
          <p:nvPr/>
        </p:nvPicPr>
        <p:blipFill>
          <a:blip r:embed="rId2"/>
          <a:stretch>
            <a:fillRect/>
          </a:stretch>
        </p:blipFill>
        <p:spPr>
          <a:xfrm>
            <a:off x="274320" y="1524476"/>
            <a:ext cx="5715000" cy="3214687"/>
          </a:xfrm>
          <a:prstGeom prst="rect">
            <a:avLst/>
          </a:prstGeom>
        </p:spPr>
      </p:pic>
      <p:pic>
        <p:nvPicPr>
          <p:cNvPr id="4" name="Picture 3" descr="04_token_forge_gameplay.png"/>
          <p:cNvPicPr>
            <a:picLocks noChangeAspect="1"/>
          </p:cNvPicPr>
          <p:nvPr/>
        </p:nvPicPr>
        <p:blipFill>
          <a:blip r:embed="rId3"/>
          <a:stretch>
            <a:fillRect/>
          </a:stretch>
        </p:blipFill>
        <p:spPr>
          <a:xfrm>
            <a:off x="6172200" y="1524476"/>
            <a:ext cx="5715000" cy="3214687"/>
          </a:xfrm>
          <a:prstGeom prst="rect">
            <a:avLst/>
          </a:prstGeom>
        </p:spPr>
      </p:pic>
      <p:sp>
        <p:nvSpPr>
          <p:cNvPr id="5" name="TextBox 4"/>
          <p:cNvSpPr txBox="1"/>
          <p:nvPr/>
        </p:nvSpPr>
        <p:spPr>
          <a:xfrm>
            <a:off x="274320" y="5623560"/>
            <a:ext cx="5715000" cy="4114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Homepage</a:t>
            </a:r>
          </a:p>
        </p:txBody>
      </p:sp>
      <p:sp>
        <p:nvSpPr>
          <p:cNvPr id="6" name="TextBox 5"/>
          <p:cNvSpPr txBox="1"/>
          <p:nvPr/>
        </p:nvSpPr>
        <p:spPr>
          <a:xfrm>
            <a:off x="6172200" y="5623560"/>
            <a:ext cx="5715000" cy="4114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Token Forge, reference game</a:t>
            </a:r>
          </a:p>
        </p:txBody>
      </p:sp>
      <p:sp>
        <p:nvSpPr>
          <p:cNvPr id="7" name="TextBox 6"/>
          <p:cNvSpPr txBox="1"/>
          <p:nvPr/>
        </p:nvSpPr>
        <p:spPr>
          <a:xfrm>
            <a:off x="365760" y="6126480"/>
            <a:ext cx="11430000" cy="457200"/>
          </a:xfrm>
          <a:prstGeom prst="rect">
            <a:avLst/>
          </a:prstGeom>
          <a:noFill/>
        </p:spPr>
        <p:txBody>
          <a:bodyPr wrap="square" lIns="0" rIns="0" tIns="0" bIns="0" anchor="ctr"/>
          <a:lstStyle/>
          <a:p>
            <a:pPr algn="ctr">
              <a:spcBef>
                <a:spcPts val="0"/>
              </a:spcBef>
              <a:spcAft>
                <a:spcPts val="0"/>
              </a:spcAft>
            </a:pPr>
            <a:r>
              <a:rPr sz="2000" b="0">
                <a:solidFill>
                  <a:srgbClr val="FFFFFF"/>
                </a:solidFill>
                <a:latin typeface="Calibri"/>
              </a:rPr>
              <a:t>13 games · 3 tiers · no paid API required for core gameplay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Backup · Core gameplay needs no backend and no paid model API</a:t>
            </a:r>
          </a:p>
        </p:txBody>
      </p:sp>
      <p:pic>
        <p:nvPicPr>
          <p:cNvPr id="3" name="Picture 2" descr="07_platform_architecture.png"/>
          <p:cNvPicPr>
            <a:picLocks noChangeAspect="1"/>
          </p:cNvPicPr>
          <p:nvPr/>
        </p:nvPicPr>
        <p:blipFill>
          <a:blip r:embed="rId2"/>
          <a:stretch>
            <a:fillRect/>
          </a:stretch>
        </p:blipFill>
        <p:spPr>
          <a:xfrm>
            <a:off x="827532" y="822960"/>
            <a:ext cx="10533888" cy="592531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56032"/>
            <a:ext cx="11338560" cy="640080"/>
          </a:xfrm>
          <a:prstGeom prst="rect">
            <a:avLst/>
          </a:prstGeom>
          <a:noFill/>
        </p:spPr>
        <p:txBody>
          <a:bodyPr wrap="square" lIns="0" rIns="0" tIns="0" bIns="0" anchor="t"/>
          <a:lstStyle/>
          <a:p>
            <a:pPr algn="l">
              <a:spcBef>
                <a:spcPts val="0"/>
              </a:spcBef>
              <a:spcAft>
                <a:spcPts val="0"/>
              </a:spcAft>
            </a:pPr>
            <a:r>
              <a:rPr sz="3000" b="1">
                <a:solidFill>
                  <a:srgbClr val="142033"/>
                </a:solidFill>
                <a:latin typeface="Calibri"/>
              </a:rPr>
              <a:t>Backup · Faculty feasibility feedback, not a learning result</a:t>
            </a:r>
          </a:p>
        </p:txBody>
      </p:sp>
      <p:sp>
        <p:nvSpPr>
          <p:cNvPr id="3" name="TextBox 2"/>
          <p:cNvSpPr txBox="1"/>
          <p:nvPr/>
        </p:nvSpPr>
        <p:spPr>
          <a:xfrm>
            <a:off x="548640" y="123444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Two faculty reviewers, Winter 2026.</a:t>
            </a:r>
          </a:p>
        </p:txBody>
      </p:sp>
      <p:sp>
        <p:nvSpPr>
          <p:cNvPr id="4" name="TextBox 3"/>
          <p:cNvSpPr txBox="1"/>
          <p:nvPr/>
        </p:nvSpPr>
        <p:spPr>
          <a:xfrm>
            <a:off x="548640" y="210312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 author was then at Durham College. That is not the current affiliation.</a:t>
            </a:r>
          </a:p>
        </p:txBody>
      </p:sp>
      <p:sp>
        <p:nvSpPr>
          <p:cNvPr id="5" name="TextBox 4"/>
          <p:cNvSpPr txBox="1"/>
          <p:nvPr/>
        </p:nvSpPr>
        <p:spPr>
          <a:xfrm>
            <a:off x="548640" y="297180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They confirmed the platform runs.</a:t>
            </a:r>
          </a:p>
        </p:txBody>
      </p:sp>
      <p:sp>
        <p:nvSpPr>
          <p:cNvPr id="6" name="TextBox 5"/>
          <p:cNvSpPr txBox="1"/>
          <p:nvPr/>
        </p:nvSpPr>
        <p:spPr>
          <a:xfrm>
            <a:off x="548640" y="384048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They named adaptive difficulty as the next priority.</a:t>
            </a:r>
          </a:p>
        </p:txBody>
      </p:sp>
      <p:sp>
        <p:nvSpPr>
          <p:cNvPr id="7" name="TextBox 6"/>
          <p:cNvSpPr txBox="1"/>
          <p:nvPr/>
        </p:nvSpPr>
        <p:spPr>
          <a:xfrm>
            <a:off x="548640" y="4709160"/>
            <a:ext cx="11064240" cy="73152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This is face-validity feedback. It is not evidence of learning effectiveness.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365760" y="128016"/>
            <a:ext cx="114757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Backup · Product history, without unlabeled prototype screenshots</a:t>
            </a:r>
          </a:p>
        </p:txBody>
      </p:sp>
      <p:pic>
        <p:nvPicPr>
          <p:cNvPr id="3" name="Picture 2" descr="12_platform_evolution.png"/>
          <p:cNvPicPr>
            <a:picLocks noChangeAspect="1"/>
          </p:cNvPicPr>
          <p:nvPr/>
        </p:nvPicPr>
        <p:blipFill>
          <a:blip r:embed="rId2"/>
          <a:stretch>
            <a:fillRect/>
          </a:stretch>
        </p:blipFill>
        <p:spPr>
          <a:xfrm>
            <a:off x="1120140" y="822960"/>
            <a:ext cx="9948672" cy="5596128"/>
          </a:xfrm>
          <a:prstGeom prst="rect">
            <a:avLst/>
          </a:prstGeom>
        </p:spPr>
      </p:pic>
      <p:sp>
        <p:nvSpPr>
          <p:cNvPr id="4" name="TextBox 3"/>
          <p:cNvSpPr txBox="1"/>
          <p:nvPr/>
        </p:nvSpPr>
        <p:spPr>
          <a:xfrm>
            <a:off x="365760" y="6355080"/>
            <a:ext cx="11475720" cy="384048"/>
          </a:xfrm>
          <a:prstGeom prst="rect">
            <a:avLst/>
          </a:prstGeom>
          <a:noFill/>
        </p:spPr>
        <p:txBody>
          <a:bodyPr wrap="square" lIns="0" rIns="0" tIns="0" bIns="0" anchor="ctr"/>
          <a:lstStyle/>
          <a:p>
            <a:pPr algn="ctr">
              <a:spcBef>
                <a:spcPts val="0"/>
              </a:spcBef>
              <a:spcAft>
                <a:spcPts val="0"/>
              </a:spcAft>
            </a:pPr>
            <a:r>
              <a:rPr sz="2000" b="1">
                <a:solidFill>
                  <a:srgbClr val="142033"/>
                </a:solidFill>
                <a:latin typeface="Calibri"/>
              </a:rPr>
              <a:t>Original Base44 screenshots are not in this package. The current app is the public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Odyssey — FIE 2026</dc:title>
  <dc:subject>Work in Progress, Innovative Practice. FIE 2026.</dc:subject>
  <dc:creator>Priyamvada Tripathi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